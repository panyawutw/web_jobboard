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rompt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7e51b389-21df-43b8-a72c-445a9a77ad1d.fntdata" /><ns0:Relationship Id="rIdFont20" Type="http://schemas.openxmlformats.org/officeDocument/2006/relationships/font" Target="fonts/95e50a27-8403-4e15-9802-992b04d55d5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75046" y="2657475"/>
            <a:ext cx="1294209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71717A"/>
                </a:solidFill>
                <a:latin typeface="Prompt"/>
              </a:rPr>
              <a:t xml:space="preserve">เว็บแอปสำหรับจัดการประกาศงานและใบสมัคร ตั้งแต่เริ่มงานจนถึงแจ้งผล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75046" y="3057525"/>
            <a:ext cx="1294209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9090B"/>
                </a:solidFill>
                <a:latin typeface="Prompt"/>
              </a:rPr>
              <a:t xml:space="preserve">FreelanceHub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75046" y="3933825"/>
            <a:ext cx="1294209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52525B"/>
                </a:solidFill>
                <a:latin typeface="Prompt"/>
              </a:rPr>
              <a:t xml:space="preserve">นำเสนอโดย: ทีมพัฒนา FreelanceHub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" y="1371600"/>
            <a:ext cx="3524250" cy="1066800"/>
          </a:xfrm>
          <a:prstGeom prst="roundRect">
            <a:avLst>
              <a:gd name="adj" fmla="val 7142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3875" y="1371600"/>
            <a:ext cx="3524250" cy="1066800"/>
          </a:xfrm>
          <a:prstGeom prst="roundRect">
            <a:avLst>
              <a:gd name="adj" fmla="val 7142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8625" y="1371600"/>
            <a:ext cx="3524250" cy="1066800"/>
          </a:xfrm>
          <a:prstGeom prst="roundRect">
            <a:avLst>
              <a:gd name="adj" fmla="val 7142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" y="542925"/>
            <a:ext cx="115728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9090B"/>
                </a:solidFill>
                <a:latin typeface="Prompt"/>
              </a:rPr>
              <a:t>1. ปัญหาและวัตถุประสงค์ (Problem &amp; Objectives)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09725"/>
            <a:ext cx="33004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Prompt"/>
              </a:rPr>
              <a:t>ปัญหาที่ต้องการแก้ไข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971675"/>
            <a:ext cx="381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52525B"/>
                </a:solidFill>
                <a:latin typeface="Prompt"/>
              </a:rPr>
              <a:t xml:space="preserve">ทั้งประกาศงานและใบสมัครมีหลายขั้นตอน จึงต้องมีที่ติดตามสถานะและดูแลแต่ละรายการได้ชัดเจน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09725"/>
            <a:ext cx="33004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Prompt"/>
              </a:rPr>
              <a:t>กลุ่มผู้ใช้เป้าหมาย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71675"/>
            <a:ext cx="381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52525B"/>
                </a:solidFill>
                <a:latin typeface="Prompt"/>
              </a:rPr>
              <a:t xml:space="preserve">Admin, บริษัท, เจ้าหน้าที่ตรวจสอบ และผู้สมัครงาน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1609725"/>
            <a:ext cx="33004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Prompt"/>
              </a:rPr>
              <a:t>วัตถุประสงค์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0" y="1971675"/>
            <a:ext cx="381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52525B"/>
                </a:solidFill>
                <a:latin typeface="Prompt"/>
              </a:rPr>
              <a:t xml:space="preserve">รวมการลงประกาศ สมัครงาน และพิจารณาผลไว้ในระบบเดียว พร้อมกำหนดว่าใครทำอะไรได้บ้าง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42925"/>
            <a:ext cx="115728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9090B"/>
                </a:solidFill>
                <a:latin typeface="Prompt"/>
              </a:rPr>
              <a:t>2. ขอบเขตและกระบวนการหลัก (Scope &amp; Core Workflow)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323975"/>
            <a:ext cx="4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1371600"/>
            <a:ext cx="10820400" cy="26670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7272A"/>
                </a:solidFill>
                <a:latin typeface="Prompt"/>
              </a:rPr>
              <a:t xml:space="preserve">ขอบเขตของระบบ: </a:t>
            </a:r>
            <a:r>
              <a:rPr b="0" sz="1350" i="0" u="none">
                <a:solidFill>
                  <a:srgbClr val="27272A"/>
                </a:solidFill>
                <a:latin typeface="Prompt"/>
              </a:rPr>
              <a:t xml:space="preserve">ดูแลบัญชีผู้ใช้ ประกาศงาน ใบสมัคร ไฟล์แนบ สิทธิ์การใช้งาน และประวัติกิจกรรม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1704975"/>
            <a:ext cx="4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1752600"/>
            <a:ext cx="10820400" cy="26670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7272A"/>
                </a:solidFill>
                <a:latin typeface="Prompt"/>
              </a:rPr>
              <a:t xml:space="preserve">ลำดับงาน: </a:t>
            </a:r>
            <a:r>
              <a:rPr b="0" sz="1350" i="0" u="none">
                <a:solidFill>
                  <a:srgbClr val="27272A"/>
                </a:solidFill>
                <a:latin typeface="Prompt"/>
              </a:rPr>
              <a:t xml:space="preserve">บริษัทลงประกาศ → เจ้าหน้าที่ตรวจสอบ → ผู้สมัครส่งใบสมัคร → บริษัทพิจารณาผล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085975"/>
            <a:ext cx="4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133600"/>
            <a:ext cx="10820400" cy="26670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7272A"/>
                </a:solidFill>
                <a:latin typeface="Prompt"/>
              </a:rPr>
              <a:t xml:space="preserve">ไฟล์แนบ: </a:t>
            </a:r>
            <a:r>
              <a:rPr b="0" sz="1350" i="0" u="none">
                <a:solidFill>
                  <a:srgbClr val="27272A"/>
                </a:solidFill>
                <a:latin typeface="Prompt"/>
              </a:rPr>
              <a:t xml:space="preserve">รองรับ Resume และเอกสารประกอบ โดยตรวจชนิดไฟล์และจำกัดขนาดไม่เกิน 10 MB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" y="1371600"/>
            <a:ext cx="3524250" cy="129540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3875" y="1371600"/>
            <a:ext cx="3524250" cy="129540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8625" y="1371600"/>
            <a:ext cx="3524250" cy="129540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" y="542925"/>
            <a:ext cx="115728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9090B"/>
                </a:solidFill>
                <a:latin typeface="Prompt"/>
              </a:rPr>
              <a:t>3. สถาปัตยกรรม Middleware (Middleware Architecture)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09725"/>
            <a:ext cx="33004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Prompt"/>
              </a:rPr>
              <a:t>1.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971675"/>
            <a:ext cx="3143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52525B"/>
                </a:solidFill>
                <a:latin typeface="Prompt"/>
              </a:rPr>
              <a:t xml:space="preserve">ผู้ใช้เข้าเว็บด้วย Session ส่วน API ใช้ JWT และระบบเก็บรหัสผ่านเป็น bcrypt hash แทนการเก็บเป็นข้อความปกติ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09725"/>
            <a:ext cx="33004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Prompt"/>
              </a:rPr>
              <a:t>2. 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71675"/>
            <a:ext cx="3143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52525B"/>
                </a:solidFill>
                <a:latin typeface="Prompt"/>
              </a:rPr>
              <a:t xml:space="preserve">ทุกหน้าที่จำกัดสิทธิ์และทุก API ตรวจ Role กับ Permission ที่ฝั่ง Server เมื่อ Admin ปรับ ACL สิทธิ์ใหม่มีผลทันที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1609725"/>
            <a:ext cx="33004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Prompt"/>
              </a:rPr>
              <a:t>3. Audit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0" y="1971675"/>
            <a:ext cx="3143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52525B"/>
                </a:solidFill>
                <a:latin typeface="Prompt"/>
              </a:rPr>
              <a:t xml:space="preserve">ระบบบันทึกการเข้าสู่ระบบ การเปลี่ยนข้อมูล การปรับ ACL และการเข้าถึงที่ถูกปฏิเสธไว้ใน PostgreSQL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42925"/>
            <a:ext cx="115728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9090B"/>
                </a:solidFill>
                <a:latin typeface="Prompt"/>
              </a:rPr>
              <a:t>4. การจัดการบทบาทและสิทธิ์ (Role &amp; Permission / ACL)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323975"/>
            <a:ext cx="4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1371600"/>
            <a:ext cx="10820400" cy="26670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7272A"/>
                </a:solidFill>
                <a:latin typeface="Prompt"/>
              </a:rPr>
              <a:t xml:space="preserve">บทบาทเริ่มต้น: </a:t>
            </a:r>
            <a:r>
              <a:rPr b="0" sz="1350" i="0" u="none">
                <a:solidFill>
                  <a:srgbClr val="27272A"/>
                </a:solidFill>
                <a:latin typeface="Prompt"/>
              </a:rPr>
              <a:t xml:space="preserve">Admin, Company, Staff และ JobSeeker แต่ละบทบาทมีหน้าที่และสิทธิ์ต่างกัน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1704975"/>
            <a:ext cx="4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1752600"/>
            <a:ext cx="10820400" cy="26670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7272A"/>
                </a:solidFill>
                <a:latin typeface="Prompt"/>
              </a:rPr>
              <a:t xml:space="preserve">จัดการผ่านหน้าเว็บ: </a:t>
            </a:r>
            <a:r>
              <a:rPr b="0" sz="1350" i="0" u="none">
                <a:solidFill>
                  <a:srgbClr val="27272A"/>
                </a:solidFill>
                <a:latin typeface="Prompt"/>
              </a:rPr>
              <a:t xml:space="preserve">Admin เพิ่มหรือแก้ไข Role และ Permission ได้โดยไม่ต้องแก้ Source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085975"/>
            <a:ext cx="4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133600"/>
            <a:ext cx="10820400" cy="26670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7272A"/>
                </a:solidFill>
                <a:latin typeface="Prompt"/>
              </a:rPr>
              <a:t xml:space="preserve">มีผลทันที: </a:t>
            </a:r>
            <a:r>
              <a:rPr b="0" sz="1350" i="0" u="none">
                <a:solidFill>
                  <a:srgbClr val="27272A"/>
                </a:solidFill>
                <a:latin typeface="Prompt"/>
              </a:rPr>
              <a:t xml:space="preserve">เมื่อบันทึกการเปลี่ยน ACL ระบบนำสิทธิ์ใหม่ไปตรวจสอบได้ทันที โดยไม่ต้อง Restart 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" y="1371600"/>
            <a:ext cx="10953750" cy="4943475"/>
          </a:xfrm>
          <a:prstGeom prst="roundRect">
            <a:avLst>
              <a:gd name="adj" fmla="val 1541"/>
            </a:avLst>
          </a:prstGeom>
          <a:solidFill>
            <a:srgbClr val="FAFAFA"/>
          </a:solidFill>
          <a:ln w="190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25" y="542925"/>
            <a:ext cx="115728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9090B"/>
                </a:solidFill>
                <a:latin typeface="Prompt"/>
              </a:rPr>
              <a:t>5. ตารางกำหนดสิทธิ์ (Access Matrix)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375046" y="1371600"/>
            <a:ext cx="12942093" cy="4943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75" i="0" u="none">
                <a:solidFill>
                  <a:srgbClr val="27272A"/>
                </a:solidFill>
                <a:latin typeface="Prompt"/>
              </a:rPr>
              <a:t xml:space="preserve">Permission | Admin | Company | Staff | JobSeeker</a:t>
            </a:r>
          </a:p>
          <a:p>
            <a:pPr algn="ctr"/>
            <a:r>
              <a:rPr b="0" sz="1275" i="0" u="none">
                <a:solidFill>
                  <a:srgbClr val="27272A"/>
                </a:solidFill>
                <a:latin typeface="Prompt"/>
              </a:rPr>
              <a:t xml:space="preserve">jobs.read | ✓ | ✓ | ✓ | ✓</a:t>
            </a:r>
          </a:p>
          <a:p>
            <a:pPr algn="ctr"/>
            <a:r>
              <a:rPr b="0" sz="1275" i="0" u="none">
                <a:solidFill>
                  <a:srgbClr val="27272A"/>
                </a:solidFill>
                <a:latin typeface="Prompt"/>
              </a:rPr>
              <a:t xml:space="preserve">jobs.create | ✓ | ✓ | — | —</a:t>
            </a:r>
          </a:p>
          <a:p>
            <a:pPr algn="ctr"/>
            <a:r>
              <a:rPr b="0" sz="1275" i="0" u="none">
                <a:solidFill>
                  <a:srgbClr val="27272A"/>
                </a:solidFill>
                <a:latin typeface="Prompt"/>
              </a:rPr>
              <a:t xml:space="preserve">jobs.moderate | ✓ | — | ✓ | —</a:t>
            </a:r>
          </a:p>
          <a:p>
            <a:pPr algn="ctr"/>
            <a:r>
              <a:rPr b="0" sz="1275" i="0" u="none">
                <a:solidFill>
                  <a:srgbClr val="27272A"/>
                </a:solidFill>
                <a:latin typeface="Prompt"/>
              </a:rPr>
              <a:t xml:space="preserve">applications.apply | ✓ | — | — | ✓</a:t>
            </a:r>
          </a:p>
          <a:p>
            <a:pPr algn="ctr"/>
            <a:r>
              <a:rPr b="0" sz="1275" i="0" u="none">
                <a:solidFill>
                  <a:srgbClr val="27272A"/>
                </a:solidFill>
                <a:latin typeface="Prompt"/>
              </a:rPr>
              <a:t xml:space="preserve">applications.review | ✓ | ✓ | — | —</a:t>
            </a:r>
          </a:p>
          <a:p>
            <a:pPr algn="ctr"/>
            <a:r>
              <a:rPr b="0" sz="1275" i="0" u="none">
                <a:solidFill>
                  <a:srgbClr val="27272A"/>
                </a:solidFill>
                <a:latin typeface="Prompt"/>
              </a:rPr>
              <a:t xml:space="preserve">files.upload | ✓ | — | — | ✓</a:t>
            </a:r>
          </a:p>
          <a:p>
            <a:pPr algn="ctr"/>
            <a:r>
              <a:rPr b="0" sz="1275" i="0" u="none">
                <a:solidFill>
                  <a:srgbClr val="27272A"/>
                </a:solidFill>
                <a:latin typeface="Prompt"/>
              </a:rPr>
              <a:t xml:space="preserve">files.download | ✓ | ✓ | — | ✓</a:t>
            </a:r>
          </a:p>
          <a:p>
            <a:pPr algn="ctr"/>
            <a:r>
              <a:rPr b="0" sz="1275" i="0" u="none">
                <a:solidFill>
                  <a:srgbClr val="27272A"/>
                </a:solidFill>
                <a:latin typeface="Prompt"/>
              </a:rPr>
              <a:t xml:space="preserve">acl.manage | ✓ | — | — | —</a:t>
            </a:r>
          </a:p>
          <a:p>
            <a:pPr algn="ctr"/>
            <a:r>
              <a:rPr b="0" sz="1275" i="0" u="none">
                <a:solidFill>
                  <a:srgbClr val="27272A"/>
                </a:solidFill>
                <a:latin typeface="Prompt"/>
              </a:rPr>
              <a:t xml:space="preserve">logs.read | ✓ | — | — |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" y="1371600"/>
            <a:ext cx="10953750" cy="4943475"/>
          </a:xfrm>
          <a:prstGeom prst="roundRect">
            <a:avLst>
              <a:gd name="adj" fmla="val 1541"/>
            </a:avLst>
          </a:prstGeom>
          <a:solidFill>
            <a:srgbClr val="FAFAFA"/>
          </a:solidFill>
          <a:ln w="19050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25" y="542925"/>
            <a:ext cx="115728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9090B"/>
                </a:solidFill>
                <a:latin typeface="Prompt"/>
              </a:rPr>
              <a:t>6. ผังความสัมพันธ์ฐานข้อมูล (ER Diagram)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375046" y="1371600"/>
            <a:ext cx="12942093" cy="4943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75" i="0" u="none">
                <a:solidFill>
                  <a:srgbClr val="27272A"/>
                </a:solidFill>
                <a:latin typeface="Prompt"/>
              </a:rPr>
              <a:t xml:space="preserve">Role แต่ละรายการเชื่อมกับ Permission ผ่านตาราง ROLE_PERMISSIONS</a:t>
            </a:r>
          </a:p>
          <a:p>
            <a:pPr algn="ctr"/>
            <a:r>
              <a:rPr b="0" sz="1575" i="0" u="none">
                <a:solidFill>
                  <a:srgbClr val="27272A"/>
                </a:solidFill>
                <a:latin typeface="Prompt"/>
              </a:rPr>
              <a:t xml:space="preserve">บริษัทหนึ่งบัญชีสร้าง JOBS ได้หลายรายการ และแต่ละงานรับ JOB_APPLICATIONS ได้หลายใบ</a:t>
            </a:r>
          </a:p>
          <a:p>
            <a:pPr algn="ctr"/>
            <a:r>
              <a:rPr b="0" sz="1575" i="0" u="none">
                <a:solidFill>
                  <a:srgbClr val="27272A"/>
                </a:solidFill>
                <a:latin typeface="Prompt"/>
              </a:rPr>
              <a:t xml:space="preserve">ใบสมัครแต่ละใบผูกกับ JobSeeker หนึ่งบัญชี และอาจแนบ Resume ใน ATTACHMENTS</a:t>
            </a:r>
          </a:p>
          <a:p>
            <a:pPr algn="ctr"/>
            <a:r>
              <a:rPr b="0" sz="1575" i="0" u="none">
                <a:solidFill>
                  <a:srgbClr val="27272A"/>
                </a:solidFill>
                <a:latin typeface="Prompt"/>
              </a:rPr>
              <a:t xml:space="preserve">บัญชีผู้ใช้เป็นผู้สร้างไฟล์แนบ และเป็นผู้กระทำใน AUDIT_LOGS</a:t>
            </a:r>
          </a:p>
          <a:p>
            <a:pPr algn="ctr"/>
            <a:r>
              <a:rPr b="0" sz="1575" i="0" u="none">
                <a:solidFill>
                  <a:srgbClr val="27272A"/>
                </a:solidFill>
                <a:latin typeface="Prompt"/>
              </a:rPr>
              <a:t xml:space="preserve">ความสัมพันธ์เหล่านี้ช่วยตรวจสอบเจ้าของข้อมูลและสิทธิ์การเข้าถึงได้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" y="1485900"/>
            <a:ext cx="5381625" cy="1066800"/>
          </a:xfrm>
          <a:prstGeom prst="roundRect">
            <a:avLst>
              <a:gd name="adj" fmla="val 7142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1371600"/>
            <a:ext cx="5381625" cy="129540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542925"/>
            <a:ext cx="115728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9090B"/>
                </a:solidFill>
                <a:latin typeface="Prompt"/>
              </a:rPr>
              <a:t>7. ระบบอัปโหลดและความปลอดภัยไฟล์ (File Handling)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1724025"/>
            <a:ext cx="525065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Prompt"/>
              </a:rPr>
              <a:t>Validation ฝั่ง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085975"/>
            <a:ext cx="61317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52525B"/>
                </a:solidFill>
                <a:latin typeface="Prompt"/>
              </a:rPr>
              <a:t xml:space="preserve">ระบบตรวจ MIME Type ฝั่ง Server และรับไฟล์ขนาดไม่เกิน 10 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9375" y="1609725"/>
            <a:ext cx="525065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Prompt"/>
              </a:rPr>
              <a:t>Access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9375" y="1971675"/>
            <a:ext cx="50006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52525B"/>
                </a:solidFill>
                <a:latin typeface="Prompt"/>
              </a:rPr>
              <a:t xml:space="preserve">ไฟล์ไม่เปิดเป็น URL สาธารณะ ก่อนดาวน์โหลดระบบตรวจสิทธิ์ทุกครั้ง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42925"/>
            <a:ext cx="115728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9090B"/>
                </a:solidFill>
                <a:latin typeface="Prompt"/>
              </a:rPr>
              <a:t>8. ระบบบันทึกประวัติการใช้งาน (Audit Logs)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323975"/>
            <a:ext cx="4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1371600"/>
            <a:ext cx="10820400" cy="26670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7272A"/>
                </a:solidFill>
                <a:latin typeface="Prompt"/>
              </a:rPr>
              <a:t xml:space="preserve">บันทึกเหตุการณ์: </a:t>
            </a:r>
            <a:r>
              <a:rPr b="0" sz="1350" i="0" u="none">
                <a:solidFill>
                  <a:srgbClr val="27272A"/>
                </a:solidFill>
                <a:latin typeface="Prompt"/>
              </a:rPr>
              <a:t xml:space="preserve">Login/Logout การสร้างหรือแก้ไขข้อมูล การเปลี่ยน ACL การจัดการไฟล์ และ Access Denied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1704975"/>
            <a:ext cx="4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1752600"/>
            <a:ext cx="10820400" cy="26670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7272A"/>
                </a:solidFill>
                <a:latin typeface="Prompt"/>
              </a:rPr>
              <a:t xml:space="preserve">ค้นย้อนหลังได้: </a:t>
            </a:r>
            <a:r>
              <a:rPr b="0" sz="1350" i="0" u="none">
                <a:solidFill>
                  <a:srgbClr val="27272A"/>
                </a:solidFill>
                <a:latin typeface="Prompt"/>
              </a:rPr>
              <a:t xml:space="preserve">เก็บข้อมูลถาวรใน PostgreSQL และกรองตามช่วงเวลา ผู้ใช้ หรือประเภทเหตุการณ์ได้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085975"/>
            <a:ext cx="4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133600"/>
            <a:ext cx="10820400" cy="26670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7272A"/>
                </a:solidFill>
                <a:latin typeface="Prompt"/>
              </a:rPr>
              <a:t xml:space="preserve">คำนึงถึงความปลอดภัย: </a:t>
            </a:r>
            <a:r>
              <a:rPr b="0" sz="1350" i="0" u="none">
                <a:solidFill>
                  <a:srgbClr val="27272A"/>
                </a:solidFill>
                <a:latin typeface="Prompt"/>
              </a:rPr>
              <a:t xml:space="preserve">ไม่บันทึก Password, Password Hash, Session ID หรือ Token ลงใน 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" y="1371600"/>
            <a:ext cx="3524250" cy="129540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3875" y="1485900"/>
            <a:ext cx="3524250" cy="1066800"/>
          </a:xfrm>
          <a:prstGeom prst="roundRect">
            <a:avLst>
              <a:gd name="adj" fmla="val 7142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8625" y="1485900"/>
            <a:ext cx="3524250" cy="1066800"/>
          </a:xfrm>
          <a:prstGeom prst="roundRect">
            <a:avLst>
              <a:gd name="adj" fmla="val 7142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" y="542925"/>
            <a:ext cx="115728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9090B"/>
                </a:solidFill>
                <a:latin typeface="Prompt"/>
              </a:rPr>
              <a:t>9. ผลการทดสอบและข้อจำกัด (Test Results &amp; Limitations)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09725"/>
            <a:ext cx="33004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Prompt"/>
              </a:rPr>
              <a:t>ผลการทดสอบระบบ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971675"/>
            <a:ext cx="3143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52525B"/>
                </a:solidFill>
                <a:latin typeface="Prompt"/>
              </a:rPr>
              <a:t xml:space="preserve">หัวข้อที่ควรตรวจระหว่างสาธิต ได้แก่ การทำงานตาม Workflow สิทธิ์ของแต่ละ Role การเข้าถึงไฟล์ และ Audit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24025"/>
            <a:ext cx="33004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Prompt"/>
              </a:rPr>
              <a:t>ปัญหาที่พบและแก้ปัญหา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85975"/>
            <a:ext cx="381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52525B"/>
                </a:solidFill>
                <a:latin typeface="Prompt"/>
              </a:rPr>
              <a:t xml:space="preserve">ก่อนเริ่มใช้งาน ต้องตั้งค่า .env และเชื่อม PostgreSQL ให้พร้อม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1724025"/>
            <a:ext cx="33004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Prompt"/>
              </a:rPr>
              <a:t>ข้อจำกัดของระบบ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0" y="2085975"/>
            <a:ext cx="381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52525B"/>
                </a:solidFill>
                <a:latin typeface="Prompt"/>
              </a:rPr>
              <a:t xml:space="preserve">ระบบเริ่มจาก 4 Roles และ Permission ที่กำหนดไว้ ผู้ดูแลสามารถปรับ ACL ให้เหมาะกับการใช้งานได้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42925"/>
            <a:ext cx="115728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9090B"/>
                </a:solidFill>
                <a:latin typeface="Prompt"/>
              </a:rPr>
              <a:t>10. ลำดับการสาธิตระบบจริง (Live Demo Steps)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323975"/>
            <a:ext cx="4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1371600"/>
            <a:ext cx="10820400" cy="26670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 xml:space="preserve">1. เริ่มจากบัญชีบริษัท แล้วสร้างประกาศงานใหม่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1704975"/>
            <a:ext cx="4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1752600"/>
            <a:ext cx="10820400" cy="26670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 xml:space="preserve">2. ให้ Staff ตรวจรายละเอียดและอนุมัติประกาศก่อนเผยแพร่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085975"/>
            <a:ext cx="4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133600"/>
            <a:ext cx="10820400" cy="26670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 xml:space="preserve">3. เข้าระบบเป็นผู้สมัคร ค้นหางานที่สนใจ แล้วส่งใบสมัครพร้อม Resume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466975"/>
            <a:ext cx="4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514600"/>
            <a:ext cx="10820400" cy="26670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 xml:space="preserve">4. กลับไปที่บัญชีบริษัทเพื่อเปิดดูและพิจารณาใบสมัคร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847975"/>
            <a:ext cx="4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895600"/>
            <a:ext cx="10820400" cy="266700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7272A"/>
                </a:solidFill>
                <a:latin typeface="Prompt"/>
              </a:rPr>
              <a:t xml:space="preserve">5. ปิดท้ายด้วย Admin: ปรับสิทธิ์ใน ACL และเปิดดู Audit Logs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77135" y="2867025"/>
            <a:ext cx="183772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9090B"/>
                </a:solidFill>
                <a:latin typeface="Prompt"/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04109" y="3705225"/>
            <a:ext cx="358378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52525B"/>
                </a:solidFill>
                <a:latin typeface="Prompt"/>
              </a:rPr>
              <a:t>ขอบคุณสำหรับการรับฟังการนำเสนอ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